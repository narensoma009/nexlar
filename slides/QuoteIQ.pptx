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2194560"/>
            <a:ext cx="3840480" cy="3840480"/>
          </a:xfrm>
          <a:prstGeom prst="ellipse">
            <a:avLst/>
          </a:prstGeom>
          <a:solidFill>
            <a:srgbClr val="6E8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685800"/>
            <a:ext cx="502920" cy="502920"/>
          </a:xfrm>
          <a:prstGeom prst="roundRect">
            <a:avLst/>
          </a:prstGeom>
          <a:solidFill>
            <a:srgbClr val="6E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8FAFC"/>
                </a:solidFill>
                <a:latin typeface="Segoe UI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CAPSTONE · 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95097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CBD5E1"/>
                </a:solidFill>
                <a:latin typeface="Segoe UI"/>
              </a:rPr>
              <a:t>QuoteIQ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8FAFC"/>
                </a:solidFill>
                <a:latin typeface="Segoe UI"/>
              </a:rPr>
              <a:t>Quotes that approve themselves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CBD5E1"/>
                </a:solidFill>
                <a:latin typeface="Segoe UI"/>
              </a:rPr>
              <a:t>Four cooperating agents collapse the quote-to-approval cycle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CBD5E1"/>
                </a:solidFill>
                <a:latin typeface="Segoe UI"/>
              </a:rPr>
              <a:t>eradicating re-keying, ASC-606 surprises, and the 1.8× resubmit loop.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291840"/>
            <a:ext cx="10817352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4198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INTELLIGENT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679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7D2FE"/>
                </a:solidFill>
                <a:latin typeface="Segoe UI"/>
              </a:rPr>
              <a:t>1   COMPOSE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1605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Catalogue-driven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4531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composition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846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7D2FE"/>
                </a:solidFill>
                <a:latin typeface="Segoe UI"/>
              </a:rPr>
              <a:t>Eradicates Excel re-keying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" y="5148072"/>
            <a:ext cx="2295144" cy="0"/>
          </a:xfrm>
          <a:prstGeom prst="line">
            <a:avLst/>
          </a:prstGeom>
          <a:ln w="6350">
            <a:solidFill>
              <a:srgbClr val="C7D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6968" y="523951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Semantic SKU search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Phase-aware suggestions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Inline justify, no re-keying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Validated building blocks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37033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38679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7D2FE"/>
                </a:solidFill>
                <a:latin typeface="Segoe UI"/>
              </a:rPr>
              <a:t>2  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1605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Upstream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44531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enforcement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846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7D2FE"/>
                </a:solidFill>
                <a:latin typeface="Segoe UI"/>
              </a:rPr>
              <a:t>Catches breaks at config time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49040" y="5148072"/>
            <a:ext cx="2295144" cy="0"/>
          </a:xfrm>
          <a:prstGeom prst="line">
            <a:avLst/>
          </a:prstGeom>
          <a:ln w="6350">
            <a:solidFill>
              <a:srgbClr val="C7D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49040" y="523951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Phasing &amp; sequencing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ASC-606 compliance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DHI codes in plain English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Delta re-check on changes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9944" y="37033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38679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7D2FE"/>
                </a:solidFill>
                <a:latin typeface="Segoe UI"/>
              </a:rPr>
              <a:t>3   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41605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Risk-scored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4531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auto-routing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4846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7D2FE"/>
                </a:solidFill>
                <a:latin typeface="Segoe UI"/>
              </a:rPr>
              <a:t>Reserves humans for judgment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611112" y="5148072"/>
            <a:ext cx="2295144" cy="0"/>
          </a:xfrm>
          <a:prstGeom prst="line">
            <a:avLst/>
          </a:prstGeom>
          <a:ln w="6350">
            <a:solidFill>
              <a:srgbClr val="C7D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11112" y="523951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Transparent 0–100 score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Threshold + blockers + signal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Auto-approve in-policy deals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Escalates only the rest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72016" y="370332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73184" y="38679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7D2FE"/>
                </a:solidFill>
                <a:latin typeface="Segoe UI"/>
              </a:rPr>
              <a:t>4   BRIEF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41605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LLM approver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3184" y="44531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73184" y="4846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7D2FE"/>
                </a:solidFill>
                <a:latin typeface="Segoe UI"/>
              </a:rPr>
              <a:t>Decision under 60 seconds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73184" y="5148072"/>
            <a:ext cx="2295144" cy="0"/>
          </a:xfrm>
          <a:prstGeom prst="line">
            <a:avLst/>
          </a:prstGeom>
          <a:ln w="6350">
            <a:solidFill>
              <a:srgbClr val="C7D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473184" y="523951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Pros vs. cons inline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2-sentence recommendation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Mitigations for the AE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0E7FF"/>
                </a:solidFill>
                <a:latin typeface="Segoe UI"/>
              </a:rPr>
              <a:t>•  Grounded in your rules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6263640"/>
            <a:ext cx="10817352" cy="457200"/>
          </a:xfrm>
          <a:prstGeom prst="roundRect">
            <a:avLst>
              <a:gd name="adj" fmla="val 30000"/>
            </a:avLst>
          </a:prstGeom>
          <a:solidFill>
            <a:srgbClr val="064E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6291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6EE7B7"/>
                </a:solidFill>
                <a:latin typeface="Segoe UI"/>
              </a:rPr>
              <a:t>OUTCOMES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6291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↓ days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80" y="6291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D1FAE5"/>
                </a:solidFill>
                <a:latin typeface="Segoe UI"/>
              </a:rPr>
              <a:t>Cycle 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6291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≈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6291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D1FAE5"/>
                </a:solidFill>
                <a:latin typeface="Segoe UI"/>
              </a:rPr>
              <a:t>Reject &amp; resubmit loop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6291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80" y="6291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D1FAE5"/>
                </a:solidFill>
                <a:latin typeface="Segoe UI"/>
              </a:rPr>
              <a:t>ASC-606 at submission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6291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4D399"/>
                </a:solidFill>
                <a:latin typeface="Segoe UI"/>
              </a:rPr>
              <a:t>Auto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6291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D1FAE5"/>
                </a:solidFill>
                <a:latin typeface="Segoe UI"/>
              </a:rPr>
              <a:t>Approve clean &amp; in-policy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5653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QuoteIQ · Pod 6 Capstone · powered by Azure OpenAI Foundry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5653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94A3B8"/>
                </a:solidFill>
                <a:latin typeface="Segoe U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